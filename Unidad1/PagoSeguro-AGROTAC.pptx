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Public Sans" panose="020B0604020202020204" charset="0"/>
      <p:regular r:id="rId13"/>
    </p:embeddedFont>
    <p:embeddedFont>
      <p:font typeface="Public Sans Bold" panose="020B0604020202020204" charset="0"/>
      <p:regular r:id="rId14"/>
    </p:embeddedFont>
    <p:embeddedFont>
      <p:font typeface="Public Sans Medium" panose="020B0604020202020204" charset="0"/>
      <p:regular r:id="rId15"/>
    </p:embeddedFont>
    <p:embeddedFont>
      <p:font typeface="Sora ExtraBold" panose="020B0604020202020204" charset="0"/>
      <p:regular r:id="rId16"/>
    </p:embeddedFont>
    <p:embeddedFont>
      <p:font typeface="Sora SemiBold" panose="020B0604020202020204" charset="0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5540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el proyecto de Análisis y Diseño de Software de la ESPE. Mencionar al equipo docente y a los cuatro integrantes antes de abordar la problemática del negocio.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Destacar cómo el sistema aborda la transición desde registros manuales hacia una arquitectura web centralizada, organizada en torno a comprobantes, créditos y auditoría interna.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la meta medible desglosa 8 requisitos funcionales del SRS, enfatizando los 5 obligatorios pactados para el ciclo principal de desarrollo de 3 meses.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la implementación del método P.A.R.A. en Notion mostrando cómo el calendario, cronograma y tablero kanban mantienen la alineación del equipo.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cómo NotebookLM sirvió de entorno de consulta semántica para sintetizar guías de modelado, estándares IREB y el documento SRS sin alucinaciones.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Resaltar el cuaderno 02, donde se validaron los diagramas UML y las especificaciones de seguridad: autenticación robusta, control de acceso por roles y pistas de auditoría.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Describir la función del GEM como revisor activo: asistió al equipo en la detección de discrepancias entre los diagramas UML y los requisitos del SRS.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el logotipo oficial y el eslogan corporativo. Invitar a consultar el material audiovisual publicitario desarrollado para dar a conocer la solución.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Resumir los seis accesos directos donde la comisión evaluadora puede verificar cada uno de los artefactos generados durante el proyecto.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Concluir la presentación sintetizando los aprendizajes individuales del equipo y abriendo el espacio para preguntas de la docente y el auditorio.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notion.com/p/Proyecto-Pago-Seguro-Agrotec-3f39732fa76e8039b0f1e79800446ce2?source=copy_link" TargetMode="External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notebook.google.com/notebook/bdd0344e-1ed0-40c3-94b5-a7722ff74eb0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notebook.google.com/notebook/f62745a3-76c7-4ac7-8c86-770c491b91ea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emini.google.com/gem/c18cbfaf2ef4?usp=sharing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rive.google.com/file/d/1Glk_XCPOeHHlKkJd0I4NDtv2Bam6AVDV/view?usp=sharing" TargetMode="External"/><Relationship Id="rId5" Type="http://schemas.openxmlformats.org/officeDocument/2006/relationships/image" Target="../media/image17.png"/><Relationship Id="rId4" Type="http://schemas.openxmlformats.org/officeDocument/2006/relationships/hyperlink" Target="https://drive.google.com/file/d/1q4bv0T4YFaGj76PoWv3M-7VHb9nPih6w/view?usp=sharing" TargetMode="Externa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hyperlink" Target="https://drive.google.com/file/d/1q4bv0T4YFaGj76PoWv3M-7VHb9nPih6w/view?usp=sharing" TargetMode="External"/><Relationship Id="rId3" Type="http://schemas.openxmlformats.org/officeDocument/2006/relationships/image" Target="../media/image19.png"/><Relationship Id="rId7" Type="http://schemas.openxmlformats.org/officeDocument/2006/relationships/hyperlink" Target="https://notebook.google.com/notebook/bdd0344e-1ed0-40c3-94b5-a7722ff74eb0" TargetMode="External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hyperlink" Target="https://gemini.google.com/gem/c18cbfaf2ef4?usp=sharing" TargetMode="External"/><Relationship Id="rId5" Type="http://schemas.openxmlformats.org/officeDocument/2006/relationships/image" Target="../media/image20.png"/><Relationship Id="rId15" Type="http://schemas.openxmlformats.org/officeDocument/2006/relationships/hyperlink" Target="https://drive.google.com/file/d/1Glk_XCPOeHHlKkJd0I4NDtv2Bam6AVDV/view?usp=sharing" TargetMode="External"/><Relationship Id="rId10" Type="http://schemas.openxmlformats.org/officeDocument/2006/relationships/image" Target="../media/image23.png"/><Relationship Id="rId4" Type="http://schemas.openxmlformats.org/officeDocument/2006/relationships/hyperlink" Target="https://app.notion.com/p/Proyecto-Pago-Seguro-Agrotec-3f39732fa76e8039b0f1e79800446ce2?source=copy_link" TargetMode="External"/><Relationship Id="rId9" Type="http://schemas.openxmlformats.org/officeDocument/2006/relationships/hyperlink" Target="https://notebook.google.com/notebook/f62745a3-76c7-4ac7-8c86-770c491b91ea" TargetMode="External"/><Relationship Id="rId1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1989713"/>
            <a:ext cx="7162621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0"/>
              </a:rPr>
              <a:t>UNIVERSIDAD DE LAS FUERZAS ARMADAS ESPE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58786" y="2302241"/>
            <a:ext cx="6756231" cy="625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4400" kern="100" spc="-44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0"/>
              </a:rPr>
              <a:t>PagoSeguro AGROTAC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58786" y="3119834"/>
            <a:ext cx="6756231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20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Análisis y Diseño de Software con herramientas de Inteligencia Artificial Generativa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58786" y="4161234"/>
            <a:ext cx="6756231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b="1" dirty="0">
                <a:solidFill>
                  <a:srgbClr val="3A4756"/>
                </a:solidFill>
                <a:latin typeface="Public Sans Bold" pitchFamily="34" charset="0"/>
                <a:ea typeface="Public Sans Bold" pitchFamily="34" charset="-122"/>
                <a:cs typeface="Public Sans Bold" pitchFamily="34" charset="0"/>
              </a:rPr>
              <a:t>Integrantes:</a:t>
            </a: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 Juda Grijalva · Uriel Andrade · Andy Conteron · Cesar Galarza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58786" y="4558804"/>
            <a:ext cx="675623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Período académico · Octubre de 2026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721407" y="0"/>
            <a:ext cx="4470288" cy="6858000"/>
          </a:xfrm>
          <a:prstGeom prst="rect">
            <a:avLst/>
          </a:prstGeom>
          <a:solidFill>
            <a:srgbClr val="E4EAEF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8595" y="457200"/>
            <a:ext cx="3555911" cy="55768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873803" y="6190059"/>
            <a:ext cx="416549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Sistema financiero web para Agrícola El Granito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409257"/>
            <a:ext cx="11683708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0"/>
              </a:rPr>
              <a:t>PROBLEMA Y SOLUCIÓN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7987" y="711112"/>
            <a:ext cx="11175720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100" spc="-32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0"/>
              </a:rPr>
              <a:t>Un sistema web para gestionar pagos y créditos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87" y="1361182"/>
            <a:ext cx="11175720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20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PagoSeguro AGROTAC centraliza la información financiera de Agrícola El Granito de AGROTAC, reduciendo los errores de los registros manuales y acelerando el seguimiento comercial.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7987" y="2694682"/>
            <a:ext cx="3521979" cy="3164086"/>
          </a:xfrm>
          <a:prstGeom prst="roundRect">
            <a:avLst>
              <a:gd name="adj" fmla="val 1023"/>
            </a:avLst>
          </a:prstGeom>
          <a:solidFill>
            <a:srgbClr val="E4EAE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380" y="2974082"/>
            <a:ext cx="431789" cy="431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7380" y="3539550"/>
            <a:ext cx="2963193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kern="100" spc="-24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Gestión de comprobantes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87380" y="4511377"/>
            <a:ext cx="2963193" cy="80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Centralización y control digital para evitar duplicidades, extravíos y demoras de registro.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4334759" y="2694682"/>
            <a:ext cx="3522078" cy="3164086"/>
          </a:xfrm>
          <a:prstGeom prst="roundRect">
            <a:avLst>
              <a:gd name="adj" fmla="val 1023"/>
            </a:avLst>
          </a:prstGeom>
          <a:solidFill>
            <a:srgbClr val="E4EAEF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4152" y="2974082"/>
            <a:ext cx="431789" cy="4318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14152" y="3539550"/>
            <a:ext cx="2963292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kern="100" spc="-24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Seguimiento de créditos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4614152" y="4511377"/>
            <a:ext cx="2963292" cy="80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Monitoreo continuo de cartera, fechas de vencimiento, abonos y alertas oportunas de morosidad.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8161629" y="2694682"/>
            <a:ext cx="3522078" cy="3164086"/>
          </a:xfrm>
          <a:prstGeom prst="roundRect">
            <a:avLst>
              <a:gd name="adj" fmla="val 1023"/>
            </a:avLst>
          </a:prstGeom>
          <a:solidFill>
            <a:srgbClr val="E4EAEF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1022" y="2974082"/>
            <a:ext cx="431789" cy="4318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441022" y="3539550"/>
            <a:ext cx="2963292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kern="100" spc="-24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Trazabilidad y control</a:t>
            </a:r>
            <a:endParaRPr lang="en-US" sz="2400" dirty="0"/>
          </a:p>
        </p:txBody>
      </p:sp>
      <p:sp>
        <p:nvSpPr>
          <p:cNvPr id="16" name="Text 11"/>
          <p:cNvSpPr/>
          <p:nvPr/>
        </p:nvSpPr>
        <p:spPr>
          <a:xfrm>
            <a:off x="8441022" y="4511377"/>
            <a:ext cx="2963292" cy="1067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Disminución radical de inconsistencias administrativas mediante registros auditables de cada movimiento.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507987" y="6240859"/>
            <a:ext cx="1168370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Tres pilares de negocio estructurados para mitigar la fragilidad operativa previa.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11812299" y="6346531"/>
            <a:ext cx="379701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100" spc="44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02</a:t>
            </a:r>
            <a:endParaRPr lang="en-US" sz="1100" dirty="0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71CFBF60-E396-0172-A67E-FD38ABB86AFE}"/>
              </a:ext>
            </a:extLst>
          </p:cNvPr>
          <p:cNvSpPr/>
          <p:nvPr/>
        </p:nvSpPr>
        <p:spPr>
          <a:xfrm>
            <a:off x="11093570" y="6549036"/>
            <a:ext cx="1035170" cy="2507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358457"/>
            <a:ext cx="11734506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0"/>
              </a:rPr>
              <a:t>METODOLOGÍA DE INGENIERÍA DE REQUISITOS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189" y="660312"/>
            <a:ext cx="11277318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100" spc="-32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0"/>
              </a:rPr>
              <a:t>Objetivo SMART: ocho requisitos, cinco obligatorios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189" y="1313081"/>
            <a:ext cx="11277318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Estructura formal del proyecto basada en especificación técnica, priorización funcional y alcance temporal acotado.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189" y="2088852"/>
            <a:ext cx="2133547" cy="2596952"/>
          </a:xfrm>
          <a:prstGeom prst="rect">
            <a:avLst/>
          </a:prstGeom>
          <a:solidFill>
            <a:srgbClr val="E4EAEF"/>
          </a:solidFill>
          <a:ln/>
        </p:spPr>
      </p:sp>
      <p:sp>
        <p:nvSpPr>
          <p:cNvPr id="6" name="Text 4"/>
          <p:cNvSpPr/>
          <p:nvPr/>
        </p:nvSpPr>
        <p:spPr>
          <a:xfrm>
            <a:off x="660383" y="2294910"/>
            <a:ext cx="193035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kern="100" spc="96" dirty="0">
                <a:solidFill>
                  <a:srgbClr val="3A4756"/>
                </a:solidFill>
                <a:latin typeface="Public Sans Bold" pitchFamily="34" charset="0"/>
                <a:ea typeface="Public Sans Bold" pitchFamily="34" charset="-122"/>
                <a:cs typeface="Public Sans Bold" pitchFamily="34" charset="0"/>
              </a:rPr>
              <a:t>S</a:t>
            </a:r>
            <a:r>
              <a:rPr lang="en-US" sz="1200" kern="100" spc="96" dirty="0">
                <a:solidFill>
                  <a:srgbClr val="3A4756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0"/>
              </a:rPr>
              <a:t> · ESPECÍFICO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60383" y="2669480"/>
            <a:ext cx="1727058" cy="31651"/>
          </a:xfrm>
          <a:prstGeom prst="roundRect">
            <a:avLst>
              <a:gd name="adj" fmla="val 49998"/>
            </a:avLst>
          </a:prstGeom>
          <a:solidFill>
            <a:srgbClr val="1B2632"/>
          </a:solidFill>
          <a:ln/>
        </p:spPr>
      </p:sp>
      <p:sp>
        <p:nvSpPr>
          <p:cNvPr id="8" name="Text 6"/>
          <p:cNvSpPr/>
          <p:nvPr/>
        </p:nvSpPr>
        <p:spPr>
          <a:xfrm>
            <a:off x="660383" y="2880618"/>
            <a:ext cx="1727157" cy="16019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Plataforma web centralizada y segura para gestionar comprobantes y créditos agrícolas.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2743032" y="2088852"/>
            <a:ext cx="2133646" cy="259695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0" name="Text 8"/>
          <p:cNvSpPr/>
          <p:nvPr/>
        </p:nvSpPr>
        <p:spPr>
          <a:xfrm>
            <a:off x="2946227" y="2294910"/>
            <a:ext cx="1930451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kern="100" spc="96" dirty="0">
                <a:solidFill>
                  <a:srgbClr val="FFFFFF"/>
                </a:solidFill>
                <a:latin typeface="Public Sans Bold" pitchFamily="34" charset="0"/>
                <a:ea typeface="Public Sans Bold" pitchFamily="34" charset="-122"/>
                <a:cs typeface="Public Sans Bold" pitchFamily="34" charset="0"/>
              </a:rPr>
              <a:t>M</a:t>
            </a:r>
            <a:r>
              <a:rPr lang="en-US" sz="1200" kern="100" spc="96" dirty="0">
                <a:solidFill>
                  <a:srgbClr val="FFFFFF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0"/>
              </a:rPr>
              <a:t> · MEDIBLE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46227" y="2880618"/>
            <a:ext cx="1727256" cy="16019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Public Sans Bold" pitchFamily="34" charset="0"/>
                <a:ea typeface="Public Sans Bold" pitchFamily="34" charset="-122"/>
                <a:cs typeface="Public Sans Bold" pitchFamily="34" charset="0"/>
              </a:rPr>
              <a:t>8 requisitos SRS</a:t>
            </a:r>
            <a:r>
              <a:rPr lang="en-US" sz="145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 (5 obligatorios: acceso, comprobantes, pagos, importación y créditos).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028975" y="2088852"/>
            <a:ext cx="2133646" cy="2596952"/>
          </a:xfrm>
          <a:prstGeom prst="rect">
            <a:avLst/>
          </a:prstGeom>
          <a:solidFill>
            <a:srgbClr val="E4EAEF"/>
          </a:solidFill>
          <a:ln/>
        </p:spPr>
      </p:sp>
      <p:sp>
        <p:nvSpPr>
          <p:cNvPr id="13" name="Text 11"/>
          <p:cNvSpPr/>
          <p:nvPr/>
        </p:nvSpPr>
        <p:spPr>
          <a:xfrm>
            <a:off x="5232170" y="2294910"/>
            <a:ext cx="1930451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kern="100" spc="96" dirty="0">
                <a:solidFill>
                  <a:srgbClr val="3A4756"/>
                </a:solidFill>
                <a:latin typeface="Public Sans Bold" pitchFamily="34" charset="0"/>
                <a:ea typeface="Public Sans Bold" pitchFamily="34" charset="-122"/>
                <a:cs typeface="Public Sans Bold" pitchFamily="34" charset="0"/>
              </a:rPr>
              <a:t>A</a:t>
            </a:r>
            <a:r>
              <a:rPr lang="en-US" sz="1200" kern="100" spc="96" dirty="0">
                <a:solidFill>
                  <a:srgbClr val="3A4756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0"/>
              </a:rPr>
              <a:t> · ALCANZABLE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232170" y="2669480"/>
            <a:ext cx="1727256" cy="31651"/>
          </a:xfrm>
          <a:prstGeom prst="roundRect">
            <a:avLst>
              <a:gd name="adj" fmla="val 49998"/>
            </a:avLst>
          </a:prstGeom>
          <a:solidFill>
            <a:srgbClr val="1B2632"/>
          </a:solidFill>
          <a:ln/>
        </p:spPr>
      </p:sp>
      <p:sp>
        <p:nvSpPr>
          <p:cNvPr id="15" name="Text 13"/>
          <p:cNvSpPr/>
          <p:nvPr/>
        </p:nvSpPr>
        <p:spPr>
          <a:xfrm>
            <a:off x="5232170" y="2880618"/>
            <a:ext cx="1727256" cy="1334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Sustentado en SRS validado, modelado UML sistemático y arquitectura web estándar.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7314918" y="2088852"/>
            <a:ext cx="2133646" cy="2596952"/>
          </a:xfrm>
          <a:prstGeom prst="rect">
            <a:avLst/>
          </a:prstGeom>
          <a:solidFill>
            <a:srgbClr val="E4EAEF"/>
          </a:solidFill>
          <a:ln/>
        </p:spPr>
      </p:sp>
      <p:sp>
        <p:nvSpPr>
          <p:cNvPr id="17" name="Text 15"/>
          <p:cNvSpPr/>
          <p:nvPr/>
        </p:nvSpPr>
        <p:spPr>
          <a:xfrm>
            <a:off x="7518113" y="2294910"/>
            <a:ext cx="1930451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kern="100" spc="96" dirty="0">
                <a:solidFill>
                  <a:srgbClr val="3A4756"/>
                </a:solidFill>
                <a:latin typeface="Public Sans Bold" pitchFamily="34" charset="0"/>
                <a:ea typeface="Public Sans Bold" pitchFamily="34" charset="-122"/>
                <a:cs typeface="Public Sans Bold" pitchFamily="34" charset="0"/>
              </a:rPr>
              <a:t>R</a:t>
            </a:r>
            <a:r>
              <a:rPr lang="en-US" sz="1200" kern="100" spc="96" dirty="0">
                <a:solidFill>
                  <a:srgbClr val="3A4756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0"/>
              </a:rPr>
              <a:t> · RELEVANTE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518113" y="2669480"/>
            <a:ext cx="1727256" cy="31651"/>
          </a:xfrm>
          <a:prstGeom prst="roundRect">
            <a:avLst>
              <a:gd name="adj" fmla="val 49998"/>
            </a:avLst>
          </a:prstGeom>
          <a:solidFill>
            <a:srgbClr val="1B2632"/>
          </a:solidFill>
          <a:ln/>
        </p:spPr>
      </p:sp>
      <p:sp>
        <p:nvSpPr>
          <p:cNvPr id="19" name="Text 17"/>
          <p:cNvSpPr/>
          <p:nvPr/>
        </p:nvSpPr>
        <p:spPr>
          <a:xfrm>
            <a:off x="7518113" y="2880618"/>
            <a:ext cx="1727256" cy="16019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Detección de duplicados, trazabilidad contable y supervisión directa de morosidad.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9600861" y="2088852"/>
            <a:ext cx="2133646" cy="2596952"/>
          </a:xfrm>
          <a:prstGeom prst="rect">
            <a:avLst/>
          </a:prstGeom>
          <a:solidFill>
            <a:srgbClr val="E4EAEF"/>
          </a:solidFill>
          <a:ln/>
        </p:spPr>
      </p:sp>
      <p:sp>
        <p:nvSpPr>
          <p:cNvPr id="21" name="Text 19"/>
          <p:cNvSpPr/>
          <p:nvPr/>
        </p:nvSpPr>
        <p:spPr>
          <a:xfrm>
            <a:off x="9804056" y="2294910"/>
            <a:ext cx="1930451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kern="100" spc="96" dirty="0">
                <a:solidFill>
                  <a:srgbClr val="3A4756"/>
                </a:solidFill>
                <a:latin typeface="Public Sans Bold" pitchFamily="34" charset="0"/>
                <a:ea typeface="Public Sans Bold" pitchFamily="34" charset="-122"/>
                <a:cs typeface="Public Sans Bold" pitchFamily="34" charset="0"/>
              </a:rPr>
              <a:t>T</a:t>
            </a:r>
            <a:r>
              <a:rPr lang="en-US" sz="1200" kern="100" spc="96" dirty="0">
                <a:solidFill>
                  <a:srgbClr val="3A4756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0"/>
              </a:rPr>
              <a:t> · TEMPORAL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804056" y="2669480"/>
            <a:ext cx="1727256" cy="31651"/>
          </a:xfrm>
          <a:prstGeom prst="roundRect">
            <a:avLst>
              <a:gd name="adj" fmla="val 49998"/>
            </a:avLst>
          </a:prstGeom>
          <a:solidFill>
            <a:srgbClr val="1B2632"/>
          </a:solidFill>
          <a:ln/>
        </p:spPr>
      </p:sp>
      <p:sp>
        <p:nvSpPr>
          <p:cNvPr id="23" name="Text 21"/>
          <p:cNvSpPr/>
          <p:nvPr/>
        </p:nvSpPr>
        <p:spPr>
          <a:xfrm>
            <a:off x="9804056" y="2880618"/>
            <a:ext cx="1727256" cy="16019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Desarrollo y pruebas funcionales planificadas en un plazo estricto de </a:t>
            </a:r>
            <a:r>
              <a:rPr lang="en-US" sz="1450" b="1" dirty="0">
                <a:solidFill>
                  <a:srgbClr val="3A4756"/>
                </a:solidFill>
                <a:latin typeface="Public Sans Bold" pitchFamily="34" charset="0"/>
                <a:ea typeface="Public Sans Bold" pitchFamily="34" charset="-122"/>
                <a:cs typeface="Public Sans Bold" pitchFamily="34" charset="0"/>
              </a:rPr>
              <a:t>3 meses</a:t>
            </a: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.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457189" y="4863604"/>
            <a:ext cx="5575161" cy="1054993"/>
          </a:xfrm>
          <a:prstGeom prst="rect">
            <a:avLst/>
          </a:prstGeom>
          <a:solidFill>
            <a:srgbClr val="E4EAEF"/>
          </a:solidFill>
          <a:ln/>
        </p:spPr>
      </p:sp>
      <p:sp>
        <p:nvSpPr>
          <p:cNvPr id="25" name="Text 23"/>
          <p:cNvSpPr/>
          <p:nvPr/>
        </p:nvSpPr>
        <p:spPr>
          <a:xfrm>
            <a:off x="660383" y="4990604"/>
            <a:ext cx="5168771" cy="80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ublic Sans Bold" pitchFamily="34" charset="0"/>
                <a:ea typeface="Public Sans Bold" pitchFamily="34" charset="-122"/>
                <a:cs typeface="Public Sans Bold" pitchFamily="34" charset="0"/>
              </a:rPr>
              <a:t>5 requisitos obligatorios:</a:t>
            </a:r>
            <a:r>
              <a:rPr lang="en-US" sz="14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 Acceso seguro, registro de comprobantes, pagos a crédito, importación de datos y gestión de créditos.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6159346" y="4863604"/>
            <a:ext cx="5575161" cy="1054993"/>
          </a:xfrm>
          <a:prstGeom prst="rect">
            <a:avLst/>
          </a:prstGeom>
          <a:solidFill>
            <a:srgbClr val="E4EAEF"/>
          </a:solidFill>
          <a:ln/>
        </p:spPr>
      </p:sp>
      <p:sp>
        <p:nvSpPr>
          <p:cNvPr id="27" name="Text 25"/>
          <p:cNvSpPr/>
          <p:nvPr/>
        </p:nvSpPr>
        <p:spPr>
          <a:xfrm>
            <a:off x="6362541" y="4990604"/>
            <a:ext cx="5168771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ublic Sans Bold" pitchFamily="34" charset="0"/>
                <a:ea typeface="Public Sans Bold" pitchFamily="34" charset="-122"/>
                <a:cs typeface="Public Sans Bold" pitchFamily="34" charset="0"/>
              </a:rPr>
              <a:t>3 requisitos complementarios:</a:t>
            </a:r>
            <a:r>
              <a:rPr lang="en-US" sz="14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 Módulos de reportes analíticos, estados de cuenta y sistema de notificaciones.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1808125" y="6297038"/>
            <a:ext cx="383570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100" spc="44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03</a:t>
            </a:r>
            <a:endParaRPr lang="en-US" sz="1100" dirty="0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03984785-293B-4C18-3646-D5DCD32EFF8A}"/>
              </a:ext>
            </a:extLst>
          </p:cNvPr>
          <p:cNvSpPr/>
          <p:nvPr/>
        </p:nvSpPr>
        <p:spPr>
          <a:xfrm>
            <a:off x="11093570" y="6549036"/>
            <a:ext cx="1035170" cy="2507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89" y="333058"/>
            <a:ext cx="7972027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0"/>
              </a:rPr>
              <a:t>GESTIÓN DEL PROYECTO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31789" y="634912"/>
            <a:ext cx="7972027" cy="91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100" spc="-32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0"/>
              </a:rPr>
              <a:t>Planificación en Notion con el método P.A.R.A.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31789" y="1740098"/>
            <a:ext cx="7972027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Organización estructurada del flujo de trabajo mediante tres vistas complementarias en Notion para asegurar visibilidad y ritmo.</a:t>
            </a:r>
            <a:endParaRPr lang="en-US" sz="1450" dirty="0"/>
          </a:p>
        </p:txBody>
      </p:sp>
      <p:pic>
        <p:nvPicPr>
          <p:cNvPr id="5" name="Image 0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6227" y="1005284"/>
            <a:ext cx="1673679" cy="59372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31789" y="2426494"/>
            <a:ext cx="3674375" cy="3610570"/>
          </a:xfrm>
          <a:prstGeom prst="rect">
            <a:avLst/>
          </a:prstGeom>
          <a:solidFill>
            <a:srgbClr val="E4EAEF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786" y="2553494"/>
            <a:ext cx="3420382" cy="2286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58786" y="5025866"/>
            <a:ext cx="3420382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kern="100" spc="-18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Vista Calendario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558786" y="5485011"/>
            <a:ext cx="342038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Hitos temporales y sincronización de entregas clave.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258561" y="2426494"/>
            <a:ext cx="3674474" cy="3610570"/>
          </a:xfrm>
          <a:prstGeom prst="rect">
            <a:avLst/>
          </a:prstGeom>
          <a:solidFill>
            <a:srgbClr val="E4EAEF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5557" y="2553494"/>
            <a:ext cx="3420481" cy="22860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385557" y="5025866"/>
            <a:ext cx="3420481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kern="100" spc="-18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Vista Cronograma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4385557" y="5485011"/>
            <a:ext cx="342048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Seguimiento temporal y dependencias entre tareas.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8085431" y="2426494"/>
            <a:ext cx="3674474" cy="3610570"/>
          </a:xfrm>
          <a:prstGeom prst="rect">
            <a:avLst/>
          </a:prstGeom>
          <a:solidFill>
            <a:srgbClr val="E4EAEF"/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2428" y="2553494"/>
            <a:ext cx="3420481" cy="22860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212428" y="5025866"/>
            <a:ext cx="3420481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kern="100" spc="-18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Tablero de actividades</a:t>
            </a:r>
            <a:endParaRPr lang="en-US" sz="1800" dirty="0"/>
          </a:p>
        </p:txBody>
      </p:sp>
      <p:sp>
        <p:nvSpPr>
          <p:cNvPr id="17" name="Text 11"/>
          <p:cNvSpPr/>
          <p:nvPr/>
        </p:nvSpPr>
        <p:spPr>
          <a:xfrm>
            <a:off x="8212428" y="5485011"/>
            <a:ext cx="342048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Estado kanban de actividades en curso y completadas.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11807629" y="6350645"/>
            <a:ext cx="384066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100" spc="44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04</a:t>
            </a:r>
            <a:endParaRPr lang="en-US" sz="1100" dirty="0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BE608A24-D354-FBAF-DBE9-357CC431FAF9}"/>
              </a:ext>
            </a:extLst>
          </p:cNvPr>
          <p:cNvSpPr/>
          <p:nvPr/>
        </p:nvSpPr>
        <p:spPr>
          <a:xfrm>
            <a:off x="11093570" y="6549036"/>
            <a:ext cx="1035170" cy="2507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792" y="155258"/>
            <a:ext cx="497827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0"/>
              </a:rPr>
              <a:t>INVESTIGACIÓN CON 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04792" y="457112"/>
            <a:ext cx="4673483" cy="13653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100" spc="-32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0"/>
              </a:rPr>
              <a:t>Investigación 1: </a:t>
            </a:r>
            <a:r>
              <a:rPr lang="en-US" sz="3200" kern="100" spc="-32" dirty="0" err="1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0"/>
              </a:rPr>
              <a:t>cuaderno</a:t>
            </a:r>
            <a:r>
              <a:rPr lang="en-US" sz="3200" kern="100" spc="-32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0"/>
              </a:rPr>
              <a:t> </a:t>
            </a:r>
          </a:p>
          <a:p>
            <a:pPr marL="0" indent="0" algn="l">
              <a:lnSpc>
                <a:spcPct val="93000"/>
              </a:lnSpc>
              <a:buNone/>
            </a:pPr>
            <a:r>
              <a:rPr lang="en-US" sz="3200" kern="100" spc="-32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0"/>
              </a:rPr>
              <a:t>01. ANÁLISIS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04792" y="2017415"/>
            <a:ext cx="4673483" cy="22991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b="1" dirty="0">
                <a:solidFill>
                  <a:srgbClr val="3A4756"/>
                </a:solidFill>
                <a:latin typeface="Public Sans Bold" pitchFamily="34" charset="0"/>
                <a:ea typeface="Public Sans Bold" pitchFamily="34" charset="-122"/>
                <a:cs typeface="Public Sans Bold" pitchFamily="34" charset="0"/>
              </a:rPr>
              <a:t>SRS validado:</a:t>
            </a: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 Estudia el SRS validado y sus requisitos funcionales y no funcionales.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b="1" dirty="0">
                <a:solidFill>
                  <a:srgbClr val="3A4756"/>
                </a:solidFill>
                <a:latin typeface="Public Sans Bold" pitchFamily="34" charset="0"/>
                <a:ea typeface="Public Sans Bold" pitchFamily="34" charset="-122"/>
                <a:cs typeface="Public Sans Bold" pitchFamily="34" charset="0"/>
              </a:rPr>
              <a:t>Casos de uso y trazabilidad:</a:t>
            </a: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 Cubre historias de usuario, casos de uso y trazabilidad.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b="1" dirty="0">
                <a:solidFill>
                  <a:srgbClr val="3A4756"/>
                </a:solidFill>
                <a:latin typeface="Public Sans Bold" pitchFamily="34" charset="0"/>
                <a:ea typeface="Public Sans Bold" pitchFamily="34" charset="-122"/>
                <a:cs typeface="Public Sans Bold" pitchFamily="34" charset="0"/>
              </a:rPr>
              <a:t>5 fuentes en NotebookLM:</a:t>
            </a: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 Guías PlantUML, matriz e informe IREB, SRS.</a:t>
            </a:r>
            <a:endParaRPr lang="en-US" sz="1700" dirty="0"/>
          </a:p>
        </p:txBody>
      </p:sp>
      <p:pic>
        <p:nvPicPr>
          <p:cNvPr id="5" name="Image 0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92" y="4743199"/>
            <a:ext cx="3106263" cy="593725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9458" y="304800"/>
            <a:ext cx="6095848" cy="58435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84665" y="6342459"/>
            <a:ext cx="670543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Interfaz de NotebookLM consolidando las 5 fuentes técnicas de requisitos.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11806049" y="6348362"/>
            <a:ext cx="385951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100" spc="44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05</a:t>
            </a:r>
            <a:endParaRPr lang="en-US" sz="1100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D3B92A9-8133-1A15-D465-B68E59D922D2}"/>
              </a:ext>
            </a:extLst>
          </p:cNvPr>
          <p:cNvSpPr/>
          <p:nvPr/>
        </p:nvSpPr>
        <p:spPr>
          <a:xfrm>
            <a:off x="11093570" y="6549036"/>
            <a:ext cx="1035170" cy="2507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2588" y="231458"/>
            <a:ext cx="480048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0"/>
              </a:rPr>
              <a:t>INVESTIGACIÓN CON 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82588" y="533312"/>
            <a:ext cx="4495688" cy="91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100" spc="-32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0"/>
              </a:rPr>
              <a:t>Investigación 2: cuaderno 02. DISEÑO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82588" y="1549598"/>
            <a:ext cx="4495688" cy="1302941"/>
          </a:xfrm>
          <a:prstGeom prst="roundRect">
            <a:avLst>
              <a:gd name="adj" fmla="val 2485"/>
            </a:avLst>
          </a:prstGeom>
          <a:solidFill>
            <a:srgbClr val="E7EAF0"/>
          </a:solidFill>
          <a:ln/>
        </p:spPr>
      </p:sp>
      <p:sp>
        <p:nvSpPr>
          <p:cNvPr id="5" name="Text 3"/>
          <p:cNvSpPr/>
          <p:nvPr/>
        </p:nvSpPr>
        <p:spPr>
          <a:xfrm>
            <a:off x="634984" y="1710571"/>
            <a:ext cx="4190895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kern="100" spc="-18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Modelado técnico UML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34984" y="2166144"/>
            <a:ext cx="4190895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Diagramas de clases de análisis y diagramas de secuencia.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82588" y="3004939"/>
            <a:ext cx="4495688" cy="1569938"/>
          </a:xfrm>
          <a:prstGeom prst="roundRect">
            <a:avLst>
              <a:gd name="adj" fmla="val 2063"/>
            </a:avLst>
          </a:prstGeom>
          <a:solidFill>
            <a:srgbClr val="E7EAF0"/>
          </a:solidFill>
          <a:ln/>
        </p:spPr>
      </p:sp>
      <p:sp>
        <p:nvSpPr>
          <p:cNvPr id="8" name="Text 6"/>
          <p:cNvSpPr/>
          <p:nvPr/>
        </p:nvSpPr>
        <p:spPr>
          <a:xfrm>
            <a:off x="634984" y="3165912"/>
            <a:ext cx="4190895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kern="100" spc="-18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Arquitectura y seguridad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34984" y="3621484"/>
            <a:ext cx="4190895" cy="80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Tres tipos de usuario; autenticación con contraseñas cifradas y tokens; control de acceso por roles y registro de auditoría.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82588" y="4727277"/>
            <a:ext cx="4495688" cy="1035943"/>
          </a:xfrm>
          <a:prstGeom prst="roundRect">
            <a:avLst>
              <a:gd name="adj" fmla="val 3126"/>
            </a:avLst>
          </a:prstGeom>
          <a:solidFill>
            <a:srgbClr val="E7EAF0"/>
          </a:solidFill>
          <a:ln/>
        </p:spPr>
      </p:sp>
      <p:sp>
        <p:nvSpPr>
          <p:cNvPr id="11" name="Text 9"/>
          <p:cNvSpPr/>
          <p:nvPr/>
        </p:nvSpPr>
        <p:spPr>
          <a:xfrm>
            <a:off x="634984" y="4888250"/>
            <a:ext cx="4190895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kern="100" spc="-18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Documentación técnica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34984" y="5343823"/>
            <a:ext cx="4343291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Reúne la documentación técnica de diseño.</a:t>
            </a:r>
            <a:endParaRPr lang="en-US" sz="1450" dirty="0"/>
          </a:p>
        </p:txBody>
      </p:sp>
      <p:pic>
        <p:nvPicPr>
          <p:cNvPr id="13" name="Image 0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588" y="5966420"/>
            <a:ext cx="2995438" cy="593725"/>
          </a:xfrm>
          <a:prstGeom prst="rect">
            <a:avLst/>
          </a:prstGeom>
        </p:spPr>
      </p:pic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9458" y="304800"/>
            <a:ext cx="6095848" cy="579596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84666" y="5030935"/>
            <a:ext cx="670543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Resumen técnico de diseño de software y seguridad generado en NotebookLM.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11809216" y="6365606"/>
            <a:ext cx="382479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100" spc="44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06</a:t>
            </a:r>
            <a:endParaRPr lang="en-US" sz="1100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0600FB5D-2379-674F-7DE4-A4C5A3E80160}"/>
              </a:ext>
            </a:extLst>
          </p:cNvPr>
          <p:cNvSpPr/>
          <p:nvPr/>
        </p:nvSpPr>
        <p:spPr>
          <a:xfrm>
            <a:off x="11093570" y="6549036"/>
            <a:ext cx="1035170" cy="2507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2588" y="383857"/>
            <a:ext cx="561326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0"/>
              </a:rPr>
              <a:t>ASISTENCIA GENERATIVA PERSONALIZADA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82588" y="685712"/>
            <a:ext cx="5181470" cy="13653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100" spc="-32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0"/>
              </a:rPr>
              <a:t>Tutor PagoSeguro AGROTAC: el asistente GEM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82588" y="2246015"/>
            <a:ext cx="5181470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Asistente creado en Google Gemini, especializado en Análisis y Diseño de Software.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482588" y="3075285"/>
            <a:ext cx="5181470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Consulta de requisitos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82588" y="3545483"/>
            <a:ext cx="5181470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Revisión de casos de uso y diagramas UML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82588" y="4015680"/>
            <a:ext cx="5181470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Análisis de trazabilidad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82588" y="4485878"/>
            <a:ext cx="5181470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Identificación de posibles inconsistencias técnicas</a:t>
            </a:r>
            <a:endParaRPr lang="en-US" sz="1450" dirty="0"/>
          </a:p>
        </p:txBody>
      </p:sp>
      <p:pic>
        <p:nvPicPr>
          <p:cNvPr id="9" name="Image 0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588" y="5006876"/>
            <a:ext cx="2474950" cy="593725"/>
          </a:xfrm>
          <a:prstGeom prst="rect">
            <a:avLst/>
          </a:prstGeom>
        </p:spPr>
      </p:pic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234" y="304800"/>
            <a:ext cx="5029074" cy="62484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82588" y="3437533"/>
            <a:ext cx="5181470" cy="12700"/>
          </a:xfrm>
          <a:prstGeom prst="rect">
            <a:avLst/>
          </a:prstGeom>
          <a:solidFill>
            <a:srgbClr val="A7B3BE"/>
          </a:solidFill>
          <a:ln/>
        </p:spPr>
      </p:sp>
      <p:sp>
        <p:nvSpPr>
          <p:cNvPr id="12" name="Shape 8"/>
          <p:cNvSpPr/>
          <p:nvPr/>
        </p:nvSpPr>
        <p:spPr>
          <a:xfrm>
            <a:off x="482588" y="3907730"/>
            <a:ext cx="5181470" cy="12700"/>
          </a:xfrm>
          <a:prstGeom prst="rect">
            <a:avLst/>
          </a:prstGeom>
          <a:solidFill>
            <a:srgbClr val="A7B3BE"/>
          </a:solidFill>
          <a:ln/>
        </p:spPr>
      </p:sp>
      <p:sp>
        <p:nvSpPr>
          <p:cNvPr id="13" name="Shape 9"/>
          <p:cNvSpPr/>
          <p:nvPr/>
        </p:nvSpPr>
        <p:spPr>
          <a:xfrm>
            <a:off x="482588" y="4377928"/>
            <a:ext cx="5181470" cy="12700"/>
          </a:xfrm>
          <a:prstGeom prst="rect">
            <a:avLst/>
          </a:prstGeom>
          <a:solidFill>
            <a:srgbClr val="A7B3BE"/>
          </a:solidFill>
          <a:ln/>
        </p:spPr>
      </p:sp>
      <p:sp>
        <p:nvSpPr>
          <p:cNvPr id="14" name="Text 10"/>
          <p:cNvSpPr/>
          <p:nvPr/>
        </p:nvSpPr>
        <p:spPr>
          <a:xfrm>
            <a:off x="11813978" y="6350645"/>
            <a:ext cx="377716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100" spc="44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07</a:t>
            </a:r>
            <a:endParaRPr lang="en-US" sz="1100" dirty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C368DAE9-2A51-E841-7DC9-4B2E12EC27BB}"/>
              </a:ext>
            </a:extLst>
          </p:cNvPr>
          <p:cNvSpPr/>
          <p:nvPr/>
        </p:nvSpPr>
        <p:spPr>
          <a:xfrm>
            <a:off x="11093570" y="6549036"/>
            <a:ext cx="1035170" cy="2507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54255" y="800775"/>
            <a:ext cx="309277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0"/>
              </a:rPr>
              <a:t>IDENTIDAD Y COMUNICACIÓN</a:t>
            </a:r>
            <a:endParaRPr lang="en-US" sz="1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4921" y="1173758"/>
            <a:ext cx="5841854" cy="1600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1981" y="3012083"/>
            <a:ext cx="10667733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600" kern="100" spc="-112" dirty="0">
                <a:solidFill>
                  <a:srgbClr val="1B2632"/>
                </a:solidFill>
                <a:latin typeface="Sora ExtraBold" pitchFamily="34" charset="0"/>
                <a:ea typeface="Sora ExtraBold" pitchFamily="34" charset="-122"/>
                <a:cs typeface="Sora ExtraBold" pitchFamily="34" charset="0"/>
              </a:rPr>
              <a:t>«Seguridad en cada pago, confianza para crecer»</a:t>
            </a:r>
            <a:endParaRPr lang="en-US" sz="5600" dirty="0"/>
          </a:p>
        </p:txBody>
      </p:sp>
      <p:sp>
        <p:nvSpPr>
          <p:cNvPr id="5" name="Text 2"/>
          <p:cNvSpPr/>
          <p:nvPr/>
        </p:nvSpPr>
        <p:spPr>
          <a:xfrm>
            <a:off x="761981" y="4501158"/>
            <a:ext cx="10667733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20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La identidad refleja solidez financiera, transparencia operativa y soporte para el productor agropecuario.</a:t>
            </a:r>
            <a:endParaRPr lang="en-US" sz="2000" dirty="0"/>
          </a:p>
        </p:txBody>
      </p:sp>
      <p:pic>
        <p:nvPicPr>
          <p:cNvPr id="6" name="Image 1" descr="preencoded.png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97343" y="5466358"/>
            <a:ext cx="2333368" cy="593725"/>
          </a:xfrm>
          <a:prstGeom prst="rect">
            <a:avLst/>
          </a:prstGeom>
        </p:spPr>
      </p:pic>
      <p:pic>
        <p:nvPicPr>
          <p:cNvPr id="7" name="Image 2" descr="preencoded.png">
            <a:hlinkClick r:id="rId6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38659" y="5466358"/>
            <a:ext cx="3355593" cy="59372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1806049" y="6350645"/>
            <a:ext cx="385951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100" spc="44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08</a:t>
            </a:r>
            <a:endParaRPr lang="en-US" sz="1100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CDAF8E9-FCE5-A7D5-6D82-5521CCF5086B}"/>
              </a:ext>
            </a:extLst>
          </p:cNvPr>
          <p:cNvSpPr/>
          <p:nvPr/>
        </p:nvSpPr>
        <p:spPr>
          <a:xfrm>
            <a:off x="11093570" y="6549036"/>
            <a:ext cx="1035170" cy="2507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2588" y="249547"/>
            <a:ext cx="11226519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100" spc="-32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0"/>
              </a:rPr>
              <a:t>Recursos y evidencias del proyecto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82588" y="899616"/>
            <a:ext cx="3589744" cy="2480866"/>
          </a:xfrm>
          <a:prstGeom prst="rect">
            <a:avLst/>
          </a:prstGeom>
          <a:solidFill>
            <a:srgbClr val="E4EAEF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185" y="1001216"/>
            <a:ext cx="431789" cy="431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84185" y="1568589"/>
            <a:ext cx="3386549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kern="100" spc="-18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Espacio en Notion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84185" y="2024162"/>
            <a:ext cx="3386549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Planificación P.A.R.A., calendario y cronograma.</a:t>
            </a:r>
            <a:endParaRPr lang="en-US" sz="1450" dirty="0"/>
          </a:p>
        </p:txBody>
      </p:sp>
      <p:pic>
        <p:nvPicPr>
          <p:cNvPr id="7" name="Image 1" descr="preencoded.png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185" y="2685157"/>
            <a:ext cx="731819" cy="59372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377124" y="899616"/>
            <a:ext cx="3437348" cy="2480866"/>
          </a:xfrm>
          <a:prstGeom prst="rect">
            <a:avLst/>
          </a:prstGeom>
          <a:solidFill>
            <a:srgbClr val="E4EAEF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8722" y="1001216"/>
            <a:ext cx="431789" cy="4318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478722" y="1568589"/>
            <a:ext cx="3234153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kern="100" spc="-18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Cuaderno de Análisis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4478722" y="2024162"/>
            <a:ext cx="3234153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NotebookLM con 5 fuentes de requisitos y SRS.</a:t>
            </a:r>
            <a:endParaRPr lang="en-US" sz="1450" dirty="0"/>
          </a:p>
        </p:txBody>
      </p:sp>
      <p:pic>
        <p:nvPicPr>
          <p:cNvPr id="12" name="Image 3" descr="preencoded.png">
            <a:hlinkClick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8722" y="2685157"/>
            <a:ext cx="731819" cy="593725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8119264" y="899616"/>
            <a:ext cx="3589843" cy="2480866"/>
          </a:xfrm>
          <a:prstGeom prst="rect">
            <a:avLst/>
          </a:prstGeom>
          <a:solidFill>
            <a:srgbClr val="E4EAEF"/>
          </a:solidFill>
          <a:ln/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0862" y="1001216"/>
            <a:ext cx="431789" cy="4318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220862" y="1568589"/>
            <a:ext cx="3386648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kern="100" spc="-18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Cuaderno de Diseño</a:t>
            </a:r>
            <a:endParaRPr lang="en-US" sz="1800" dirty="0"/>
          </a:p>
        </p:txBody>
      </p:sp>
      <p:sp>
        <p:nvSpPr>
          <p:cNvPr id="16" name="Text 9"/>
          <p:cNvSpPr/>
          <p:nvPr/>
        </p:nvSpPr>
        <p:spPr>
          <a:xfrm>
            <a:off x="8220862" y="2024162"/>
            <a:ext cx="3386648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Modelado UML, clases, secuencias y seguridad.</a:t>
            </a:r>
            <a:endParaRPr lang="en-US" sz="1450" dirty="0"/>
          </a:p>
        </p:txBody>
      </p:sp>
      <p:pic>
        <p:nvPicPr>
          <p:cNvPr id="17" name="Image 5" descr="preencoded.png">
            <a:hlinkClick r:id="rId9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0862" y="2685157"/>
            <a:ext cx="731819" cy="593725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482588" y="3685282"/>
            <a:ext cx="3589744" cy="2480866"/>
          </a:xfrm>
          <a:prstGeom prst="rect">
            <a:avLst/>
          </a:prstGeom>
          <a:solidFill>
            <a:srgbClr val="E4EAEF"/>
          </a:solidFill>
          <a:ln/>
        </p:spPr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4185" y="3786882"/>
            <a:ext cx="431789" cy="43180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584185" y="4354255"/>
            <a:ext cx="3386549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kern="100" spc="-18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Tutor académico GEM</a:t>
            </a:r>
            <a:endParaRPr lang="en-US" sz="1800" dirty="0"/>
          </a:p>
        </p:txBody>
      </p:sp>
      <p:sp>
        <p:nvSpPr>
          <p:cNvPr id="21" name="Text 12"/>
          <p:cNvSpPr/>
          <p:nvPr/>
        </p:nvSpPr>
        <p:spPr>
          <a:xfrm>
            <a:off x="584185" y="4809827"/>
            <a:ext cx="3386549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Asistente en Gemini para validación técnica.</a:t>
            </a:r>
            <a:endParaRPr lang="en-US" sz="1450" dirty="0"/>
          </a:p>
        </p:txBody>
      </p:sp>
      <p:pic>
        <p:nvPicPr>
          <p:cNvPr id="22" name="Image 7" descr="preencoded.png">
            <a:hlinkClick r:id="rId11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185" y="5470823"/>
            <a:ext cx="731819" cy="593725"/>
          </a:xfrm>
          <a:prstGeom prst="rect">
            <a:avLst/>
          </a:prstGeom>
        </p:spPr>
      </p:pic>
      <p:sp>
        <p:nvSpPr>
          <p:cNvPr id="23" name="Shape 13"/>
          <p:cNvSpPr/>
          <p:nvPr/>
        </p:nvSpPr>
        <p:spPr>
          <a:xfrm>
            <a:off x="4377124" y="3685282"/>
            <a:ext cx="3437348" cy="2480866"/>
          </a:xfrm>
          <a:prstGeom prst="rect">
            <a:avLst/>
          </a:prstGeom>
          <a:solidFill>
            <a:srgbClr val="E4EAEF"/>
          </a:solidFill>
          <a:ln/>
        </p:spPr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78722" y="3786882"/>
            <a:ext cx="431789" cy="431800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4478722" y="4354255"/>
            <a:ext cx="3234153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kern="100" spc="-18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Logotipo oficial</a:t>
            </a:r>
            <a:endParaRPr lang="en-US" sz="1800" dirty="0"/>
          </a:p>
        </p:txBody>
      </p:sp>
      <p:sp>
        <p:nvSpPr>
          <p:cNvPr id="26" name="Text 15"/>
          <p:cNvSpPr/>
          <p:nvPr/>
        </p:nvSpPr>
        <p:spPr>
          <a:xfrm>
            <a:off x="4478722" y="4809827"/>
            <a:ext cx="3234153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Archivo vectorial e imagen oficial del proyecto.</a:t>
            </a:r>
            <a:endParaRPr lang="en-US" sz="1450" dirty="0"/>
          </a:p>
        </p:txBody>
      </p:sp>
      <p:pic>
        <p:nvPicPr>
          <p:cNvPr id="27" name="Image 9" descr="preencoded.png">
            <a:hlinkClick r:id="rId13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8722" y="5470823"/>
            <a:ext cx="731819" cy="593725"/>
          </a:xfrm>
          <a:prstGeom prst="rect">
            <a:avLst/>
          </a:prstGeom>
        </p:spPr>
      </p:pic>
      <p:sp>
        <p:nvSpPr>
          <p:cNvPr id="28" name="Shape 16"/>
          <p:cNvSpPr/>
          <p:nvPr/>
        </p:nvSpPr>
        <p:spPr>
          <a:xfrm>
            <a:off x="8119264" y="3685282"/>
            <a:ext cx="3589843" cy="2480866"/>
          </a:xfrm>
          <a:prstGeom prst="rect">
            <a:avLst/>
          </a:prstGeom>
          <a:solidFill>
            <a:srgbClr val="E4EAEF"/>
          </a:solidFill>
          <a:ln/>
        </p:spPr>
      </p:sp>
      <p:pic>
        <p:nvPicPr>
          <p:cNvPr id="29" name="Image 10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20862" y="3786882"/>
            <a:ext cx="431789" cy="431800"/>
          </a:xfrm>
          <a:prstGeom prst="rect">
            <a:avLst/>
          </a:prstGeom>
        </p:spPr>
      </p:pic>
      <p:sp>
        <p:nvSpPr>
          <p:cNvPr id="30" name="Text 17"/>
          <p:cNvSpPr/>
          <p:nvPr/>
        </p:nvSpPr>
        <p:spPr>
          <a:xfrm>
            <a:off x="8220862" y="4354255"/>
            <a:ext cx="3386648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kern="100" spc="-18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Video publicitario</a:t>
            </a:r>
            <a:endParaRPr lang="en-US" sz="1800" dirty="0"/>
          </a:p>
        </p:txBody>
      </p:sp>
      <p:sp>
        <p:nvSpPr>
          <p:cNvPr id="31" name="Text 18"/>
          <p:cNvSpPr/>
          <p:nvPr/>
        </p:nvSpPr>
        <p:spPr>
          <a:xfrm>
            <a:off x="8220862" y="4809827"/>
            <a:ext cx="3386648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Spot audiovisual de presentación del producto.</a:t>
            </a:r>
            <a:endParaRPr lang="en-US" sz="1450" dirty="0"/>
          </a:p>
        </p:txBody>
      </p:sp>
      <p:pic>
        <p:nvPicPr>
          <p:cNvPr id="32" name="Image 11" descr="preencoded.png">
            <a:hlinkClick r:id="rId15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0862" y="5470823"/>
            <a:ext cx="731819" cy="593725"/>
          </a:xfrm>
          <a:prstGeom prst="rect">
            <a:avLst/>
          </a:prstGeom>
        </p:spPr>
      </p:pic>
      <p:sp>
        <p:nvSpPr>
          <p:cNvPr id="33" name="Text 19"/>
          <p:cNvSpPr/>
          <p:nvPr/>
        </p:nvSpPr>
        <p:spPr>
          <a:xfrm>
            <a:off x="11808919" y="6350645"/>
            <a:ext cx="382776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100" spc="44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09</a:t>
            </a:r>
            <a:endParaRPr lang="en-US" sz="1100" dirty="0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E42929D1-4C48-F80B-00A2-74B9492FE99C}"/>
              </a:ext>
            </a:extLst>
          </p:cNvPr>
          <p:cNvSpPr/>
          <p:nvPr/>
        </p:nvSpPr>
        <p:spPr>
          <a:xfrm>
            <a:off x="11093570" y="6549036"/>
            <a:ext cx="1035170" cy="2507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358457"/>
            <a:ext cx="721342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0"/>
              </a:rPr>
              <a:t>CONCLUSIONES DEL EQUIPO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7987" y="660312"/>
            <a:ext cx="6781630" cy="91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100" spc="-32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0"/>
              </a:rPr>
              <a:t>Aprendimos a organizar, investigar y verificar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7987" y="1676598"/>
            <a:ext cx="6781630" cy="1054993"/>
          </a:xfrm>
          <a:prstGeom prst="roundRect">
            <a:avLst>
              <a:gd name="adj" fmla="val 3070"/>
            </a:avLst>
          </a:prstGeom>
          <a:solidFill>
            <a:srgbClr val="E7EAF0"/>
          </a:solidFill>
          <a:ln/>
        </p:spPr>
      </p:sp>
      <p:sp>
        <p:nvSpPr>
          <p:cNvPr id="5" name="Text 3"/>
          <p:cNvSpPr/>
          <p:nvPr/>
        </p:nvSpPr>
        <p:spPr>
          <a:xfrm>
            <a:off x="685783" y="1803598"/>
            <a:ext cx="6426039" cy="80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b="1" dirty="0">
                <a:solidFill>
                  <a:srgbClr val="3A4756"/>
                </a:solidFill>
                <a:latin typeface="Public Sans Bold" pitchFamily="34" charset="0"/>
                <a:ea typeface="Public Sans Bold" pitchFamily="34" charset="-122"/>
                <a:cs typeface="Public Sans Bold" pitchFamily="34" charset="0"/>
              </a:rPr>
              <a:t>Juda:</a:t>
            </a: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 Notion estructuró las actividades y NotebookLM la investigación; con el GEM se revisaron requisitos y diagramas. La clave profesional radica en verificar críticamente lo que genera la IA.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07987" y="2883991"/>
            <a:ext cx="6781630" cy="1054993"/>
          </a:xfrm>
          <a:prstGeom prst="roundRect">
            <a:avLst>
              <a:gd name="adj" fmla="val 3070"/>
            </a:avLst>
          </a:prstGeom>
          <a:solidFill>
            <a:srgbClr val="E7EAF0"/>
          </a:solidFill>
          <a:ln/>
        </p:spPr>
      </p:sp>
      <p:sp>
        <p:nvSpPr>
          <p:cNvPr id="7" name="Text 5"/>
          <p:cNvSpPr/>
          <p:nvPr/>
        </p:nvSpPr>
        <p:spPr>
          <a:xfrm>
            <a:off x="685783" y="3010991"/>
            <a:ext cx="6426039" cy="80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b="1" dirty="0">
                <a:solidFill>
                  <a:srgbClr val="3A4756"/>
                </a:solidFill>
                <a:latin typeface="Public Sans Bold" pitchFamily="34" charset="0"/>
                <a:ea typeface="Public Sans Bold" pitchFamily="34" charset="-122"/>
                <a:cs typeface="Public Sans Bold" pitchFamily="34" charset="0"/>
              </a:rPr>
              <a:t>Uriel:</a:t>
            </a: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 El método P.A.R.A. redujo la dispersión de información y la sobrecarga cognitiva, ordenando el conocimiento según su grado de accionabilidad para el equipo.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07987" y="4091384"/>
            <a:ext cx="6781630" cy="1054993"/>
          </a:xfrm>
          <a:prstGeom prst="roundRect">
            <a:avLst>
              <a:gd name="adj" fmla="val 3070"/>
            </a:avLst>
          </a:prstGeom>
          <a:solidFill>
            <a:srgbClr val="E7EAF0"/>
          </a:solidFill>
          <a:ln/>
        </p:spPr>
      </p:sp>
      <p:sp>
        <p:nvSpPr>
          <p:cNvPr id="9" name="Text 7"/>
          <p:cNvSpPr/>
          <p:nvPr/>
        </p:nvSpPr>
        <p:spPr>
          <a:xfrm>
            <a:off x="685783" y="4218384"/>
            <a:ext cx="6426039" cy="80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b="1" dirty="0">
                <a:solidFill>
                  <a:srgbClr val="3A4756"/>
                </a:solidFill>
                <a:latin typeface="Public Sans Bold" pitchFamily="34" charset="0"/>
                <a:ea typeface="Public Sans Bold" pitchFamily="34" charset="-122"/>
                <a:cs typeface="Public Sans Bold" pitchFamily="34" charset="0"/>
              </a:rPr>
              <a:t>Andy:</a:t>
            </a: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 Separar Proyectos, Áreas, Recursos y Archivo facilitó ubicar de inmediato el SRS y los avances del software, una práctica de alto valor aplicable a otras materias.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07987" y="5298777"/>
            <a:ext cx="6781630" cy="1054993"/>
          </a:xfrm>
          <a:prstGeom prst="roundRect">
            <a:avLst>
              <a:gd name="adj" fmla="val 3070"/>
            </a:avLst>
          </a:prstGeom>
          <a:solidFill>
            <a:srgbClr val="E7EAF0"/>
          </a:solidFill>
          <a:ln/>
        </p:spPr>
      </p:sp>
      <p:sp>
        <p:nvSpPr>
          <p:cNvPr id="11" name="Text 9"/>
          <p:cNvSpPr/>
          <p:nvPr/>
        </p:nvSpPr>
        <p:spPr>
          <a:xfrm>
            <a:off x="685783" y="5425777"/>
            <a:ext cx="6426039" cy="80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b="1" dirty="0">
                <a:solidFill>
                  <a:srgbClr val="3A4756"/>
                </a:solidFill>
                <a:latin typeface="Public Sans Bold" pitchFamily="34" charset="0"/>
                <a:ea typeface="Public Sans Bold" pitchFamily="34" charset="-122"/>
                <a:cs typeface="Public Sans Bold" pitchFamily="34" charset="0"/>
              </a:rPr>
              <a:t>Cesar:</a:t>
            </a: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 Notion aportó flexibilidad para el seguimiento ágil y NotebookLM centralizó y sintetizó la documentación técnica, acelerando de forma medible el análisis y diseño.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721407" y="0"/>
            <a:ext cx="4470288" cy="6858000"/>
          </a:xfrm>
          <a:prstGeom prst="rect">
            <a:avLst/>
          </a:prstGeom>
          <a:solidFill>
            <a:srgbClr val="E4EAEF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9586" y="2435820"/>
            <a:ext cx="2793930" cy="7620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06981" y="3433088"/>
            <a:ext cx="3860703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kern="100" spc="-24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Gracias por su atención.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8404213" y="3997027"/>
            <a:ext cx="310457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Universidad de las Fuerzas Armadas ESPE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Ingeniería de Software · 2026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11838386" y="6451898"/>
            <a:ext cx="353309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100" spc="44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1077</Words>
  <Application>Microsoft Office PowerPoint</Application>
  <PresentationFormat>Panorámica</PresentationFormat>
  <Paragraphs>117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7" baseType="lpstr">
      <vt:lpstr>Arial</vt:lpstr>
      <vt:lpstr>Public Sans</vt:lpstr>
      <vt:lpstr>Public Sans Bold</vt:lpstr>
      <vt:lpstr>Public Sans Medium</vt:lpstr>
      <vt:lpstr>Sora SemiBold</vt:lpstr>
      <vt:lpstr>Sora ExtraBold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Juda Grijalva</cp:lastModifiedBy>
  <cp:revision>2</cp:revision>
  <dcterms:created xsi:type="dcterms:W3CDTF">2026-10-27T14:01:06Z</dcterms:created>
  <dcterms:modified xsi:type="dcterms:W3CDTF">2026-10-27T14:22:25Z</dcterms:modified>
</cp:coreProperties>
</file>